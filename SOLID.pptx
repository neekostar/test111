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Raleway" panose="020B0604020202020204" charset="-52"/>
      <p:regular r:id="rId20"/>
    </p:embeddedFont>
    <p:embeddedFont>
      <p:font typeface="Roboto" panose="020B0604020202020204" charset="0"/>
      <p:regular r:id="rId21"/>
    </p:embeddedFont>
    <p:embeddedFont>
      <p:font typeface="Roboto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590A9-43EC-7D40-84E6-1904B3981522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8E6BE9-0320-3040-80F6-7F70DE7014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68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696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Принципы SOLID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33831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Применение принципов SOLID при проектировании программного обеспечения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9005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6682" y="418584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 М-ИСиТ-21 Кузин Н.С.</a:t>
            </a:r>
            <a:endParaRPr lang="en-US" sz="145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88A54C-61A1-4374-AF01-42FCCAB8C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734" y="6391210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2739"/>
            <a:ext cx="100198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99393"/>
            <a:ext cx="138476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ВВЕДЕНИЕ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054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Что такое SOLID?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4966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SOLID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аббревиатура пяти ключевых принципов объектно-ориентированного проектирования, ставших стандартом разработки качественного программного обеспечения.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429397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Разработаны для создания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гибкого, масштабируемого и поддерживаемого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кода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Помогают избежать технического долга и упростить рефакторинг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Широко применяются в профессиональной разработке ПО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09222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133" y="228758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28133" y="2771874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Responsibility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209222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4533" y="228758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224533" y="2771874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/ Closed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32776" y="345866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133" y="3654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528133" y="4138315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Liskov Substitution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29176" y="3458666"/>
            <a:ext cx="25073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4533" y="3654028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9224533" y="4138315"/>
            <a:ext cx="21166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Segregation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32776" y="4825107"/>
            <a:ext cx="5203794" cy="1177429"/>
          </a:xfrm>
          <a:prstGeom prst="roundRect">
            <a:avLst>
              <a:gd name="adj" fmla="val 6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133" y="5020469"/>
            <a:ext cx="48130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6528133" y="5504755"/>
            <a:ext cx="48130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Inversion</a:t>
            </a:r>
            <a:endParaRPr lang="en-US" sz="145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82573D2-83E1-491E-BB5C-298770894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734" y="6391210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8643"/>
            <a:ext cx="145153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05297"/>
            <a:ext cx="18343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 1 ИЗ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113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 — Single Responsibility Principle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7764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единственной ответственности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69009"/>
            <a:ext cx="2507394" cy="27276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08342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Правило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567708"/>
            <a:ext cx="197698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 должен иметь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одну причину для изменения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каждый класс отвечает ровно за одну функцию системы.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7875" y="2869009"/>
            <a:ext cx="2507394" cy="27276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73879" y="3083421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Зачем?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3673879" y="3567708"/>
            <a:ext cx="197698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Изменение одной части системы не ломает другую. Код становится понятнее и проще в поддержке.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616237" y="3058021"/>
            <a:ext cx="49203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Пример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616237" y="3542308"/>
            <a:ext cx="4920333" cy="1864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хранит только данные пользователя (имя, email).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UserRepository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отвечает за работу с базой данных: сохранение, чтение, удаление записей.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класс — одна зона ответственности.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332776" y="2869009"/>
            <a:ext cx="25399" cy="2708275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28E53CE-2E1F-41AA-9F0B-32BDBF8B2D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734" y="6397299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39341"/>
            <a:ext cx="145153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95995"/>
            <a:ext cx="18343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 2 ИЗ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020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— Open/Closed Principle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6833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открытости/закрытости</a:t>
            </a:r>
            <a:endParaRPr lang="en-US" sz="1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47082"/>
            <a:ext cx="3622882" cy="756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482" y="379214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Открыт для расширения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4200823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Поведение класса можно расширять добавлением новых классов-наследников или реализаций интерфейса.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847082"/>
            <a:ext cx="3622882" cy="756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73364" y="379214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Закрыт для модификации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473364" y="4200823"/>
            <a:ext cx="324486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Существующий, проверенный код не трогается. Новая функциональность не ломает старую логику.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847082"/>
            <a:ext cx="3622882" cy="7560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6246" y="3792141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Практика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96246" y="4200823"/>
            <a:ext cx="3244868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Интерфейс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реализуется через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CreditCardPayment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PayPalPayment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без изменения базового кода.</a:t>
            </a:r>
            <a:endParaRPr lang="en-US" sz="14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7CC8BE9-7CCA-4DAC-9885-C26FA09D8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4734" y="6391210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920"/>
            <a:ext cx="1360850" cy="269180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67735" y="711002"/>
            <a:ext cx="1757914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 3 ИЗ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9347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 — Liskov Substitution Principle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613595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подстановки Барбары Лисков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87823"/>
            <a:ext cx="6913390" cy="31639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25575" y="2993619"/>
            <a:ext cx="1529326" cy="19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Замена без поломок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25575" y="3239167"/>
            <a:ext cx="1685658" cy="29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Код, ожидающий Shape, работает одинаково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4934" y="3938001"/>
            <a:ext cx="1549717" cy="382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Подклассы: Circle, Rectangle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4934" y="4374720"/>
            <a:ext cx="1549717" cy="296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Реализуют тот же контракт корректно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25575" y="4644589"/>
            <a:ext cx="1603244" cy="19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Ядро: Контракт Shape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25575" y="4890137"/>
            <a:ext cx="1685658" cy="148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Методы: area(), perimeter()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013400" y="2289076"/>
            <a:ext cx="3523070" cy="232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Объекты подклассов должны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корректно заменять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объекты базовых классов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Подкласс не должен нарушать контракт базового класса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код ожидает </a:t>
            </a: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он должен одинаково работать с </a:t>
            </a: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Circle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Rectangle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любой другой реализацией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13400" y="4801989"/>
            <a:ext cx="3523070" cy="1211263"/>
          </a:xfrm>
          <a:prstGeom prst="roundRect">
            <a:avLst>
              <a:gd name="adj" fmla="val 6144"/>
            </a:avLst>
          </a:prstGeom>
          <a:solidFill>
            <a:srgbClr val="E1E1E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601" y="5054104"/>
            <a:ext cx="221451" cy="1772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89252" y="4995664"/>
            <a:ext cx="2770019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Нарушение LSP приводит к неожиданным ошибкам и усложняет полиморфизм.</a:t>
            </a:r>
            <a:endParaRPr lang="en-US" sz="13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015A746-81B2-440F-9229-AFDD8996D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4734" y="6391210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4844"/>
            <a:ext cx="1451534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11498"/>
            <a:ext cx="18343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 4 ИЗ 5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175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 — Interface Segregation Principle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68384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разделения интерфейсов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61475" y="2475210"/>
            <a:ext cx="2507394" cy="3515221"/>
          </a:xfrm>
          <a:prstGeom prst="roundRect">
            <a:avLst>
              <a:gd name="adj" fmla="val 316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2689622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❌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Плохо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5881" y="3173909"/>
            <a:ext cx="2078581" cy="231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Один «толстый» интерфейс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с методами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work()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eat()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Роботы вынуждены реализовывать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eat()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который им не нужен.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357875" y="2475210"/>
            <a:ext cx="2507394" cy="3515221"/>
          </a:xfrm>
          <a:prstGeom prst="roundRect">
            <a:avLst>
              <a:gd name="adj" fmla="val 3166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2282" y="2689622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Хорошо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3572282" y="3173909"/>
            <a:ext cx="2078581" cy="2602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специализированных интерфейса: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Workable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Eatable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Каждый класс реализует только то, что ему действительно необходимо.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32776" y="2432645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Ключевое правило: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Клиенты не должны зависеть от интерфейсов, которые они не используют. Лучше много маленьких специализированных интерфейсов, чем один универсальный.</a:t>
            </a:r>
            <a:endParaRPr lang="en-US" sz="145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279738-B7AF-4BFB-A216-C5BFB871B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734" y="6355557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25271" cy="143470"/>
          </a:xfrm>
          <a:prstGeom prst="roundRect">
            <a:avLst>
              <a:gd name="adj" fmla="val 2213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22155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ПРИНЦИП 5 ИЗ 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 — Dependency Inversion Principle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996255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Принцип инверсии зависимостей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3549948"/>
            <a:ext cx="5319083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Высокоуровневые модули </a:t>
            </a: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не зависят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от низкоуровневых модулей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Оба типа должны зависеть от </a:t>
            </a:r>
            <a:r>
              <a:rPr lang="en-US" sz="7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абстракций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Абстракции не зависят от деталей — детали зависят от абстракций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03156" y="4018657"/>
            <a:ext cx="5177403" cy="233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 зависит от интерфейса </a:t>
            </a:r>
            <a:r>
              <a:rPr lang="en-US" sz="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Logger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а не от конкретного </a:t>
            </a:r>
            <a:r>
              <a:rPr lang="en-US" sz="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FileLogger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или </a:t>
            </a:r>
            <a:r>
              <a:rPr lang="en-US" sz="7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ConsoleLogger</a:t>
            </a: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Реализацию можно подменить в любой момент.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61475" y="3976191"/>
            <a:ext cx="12700" cy="318095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267817"/>
            <a:ext cx="5319083" cy="531921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F678B70-42BC-454B-B4F9-C485BA8F1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734" y="6391210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99319"/>
            <a:ext cx="116420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55973"/>
            <a:ext cx="15469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РЕЗУЛЬТАТЫ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620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Преимущества применения SOLID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36180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4489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Читаемость кода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253581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Улучшенная читаемость и поддерживаемость — новый разработчик быстро понимает структуру проекта.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2136180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284489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Тестируемость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13915" y="3253581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Упрощение тестирования и отладки — изолированные классы легко покрывать юнит-тестами.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36442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494516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Слабая связанность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61475" y="5353844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Снижение связанности между компонентами — изменение одного модуля не разрушает остальные.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13915" y="4236442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3915" y="494516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Расширяемость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13915" y="5353844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Облегчение добавления новых функций без изменения существующего, уже проверенного кода.</a:t>
            </a:r>
            <a:endParaRPr lang="en-US" sz="1450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117F65A-D8E1-4CF9-B833-AD63B5CF66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4734" y="6363946"/>
            <a:ext cx="226726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426" y="909538"/>
            <a:ext cx="5559148" cy="52442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0060" y="4205258"/>
            <a:ext cx="1948549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SOLID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3700060" y="4586623"/>
            <a:ext cx="1948549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Фундамент качественного ООП дизайна.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1573" y="1690569"/>
            <a:ext cx="19485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Практика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121573" y="2102503"/>
            <a:ext cx="1948548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Требуется опыт и постепенное применение.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38046" y="4052413"/>
            <a:ext cx="194854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Баланс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538046" y="4503629"/>
            <a:ext cx="1948548" cy="55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Идеал уступает практической реалистичности.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381" y="6295977"/>
            <a:ext cx="3596193" cy="4281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9934" y="6308677"/>
            <a:ext cx="346364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Фундамент качества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19934" y="6484592"/>
            <a:ext cx="346364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SOLID — основа качественного объектно-ориентированного дизайна, которую признаёт всё профессиональное сообщество разработчиков.</a:t>
            </a:r>
            <a:endParaRPr lang="en-US" sz="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6028" y="6321300"/>
            <a:ext cx="3596292" cy="42812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8581" y="6334000"/>
            <a:ext cx="3463739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Путь через практику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048581" y="6502126"/>
            <a:ext cx="3463739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Применение этих принципов требует практики и опыта — начинайте с малого и последовательно улучшайте свой код.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78331" y="6296579"/>
            <a:ext cx="3596193" cy="42812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10884" y="6309279"/>
            <a:ext cx="346364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Баланс — ключ к успеху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7810785" y="6494221"/>
            <a:ext cx="3463640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Баланс между идеальностью и практичностью — не всегда нужно следовать принципам догматично; важно понимать их цель.</a:t>
            </a:r>
            <a:endParaRPr lang="en-US" sz="7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7BCBB9F-7F8A-4ED9-ACBC-9382EF4D6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1159" y="6553474"/>
            <a:ext cx="1086199" cy="295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585</Words>
  <Application>Microsoft Office PowerPoint</Application>
  <PresentationFormat>Широкоэкранный</PresentationFormat>
  <Paragraphs>102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Roboto Bold</vt:lpstr>
      <vt:lpstr>Roboto</vt:lpstr>
      <vt:lpstr>Raleway</vt:lpstr>
      <vt:lpstr>Arial</vt:lpstr>
      <vt:lpstr>Calibri</vt:lpstr>
      <vt:lpstr>Consolas</vt:lpstr>
      <vt:lpstr>Aptos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Кузин Никита Сергеевич</cp:lastModifiedBy>
  <cp:revision>3</cp:revision>
  <dcterms:created xsi:type="dcterms:W3CDTF">2026-09-16T06:44:19Z</dcterms:created>
  <dcterms:modified xsi:type="dcterms:W3CDTF">2026-09-16T06:54:04Z</dcterms:modified>
</cp:coreProperties>
</file>